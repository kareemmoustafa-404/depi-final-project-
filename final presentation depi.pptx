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8288000" cy="10287000"/>
  <p:notesSz cx="6858000" cy="9144000"/>
  <p:embeddedFontLst>
    <p:embeddedFont>
      <p:font typeface="Anton" pitchFamily="2" charset="0"/>
      <p:regular r:id="rId17"/>
    </p:embeddedFont>
    <p:embeddedFont>
      <p:font typeface="Canva Sans Bold" panose="020B0604020202020204" charset="0"/>
      <p:regular r:id="rId18"/>
    </p:embeddedFont>
    <p:embeddedFont>
      <p:font typeface="Montserrat" panose="00000500000000000000" pitchFamily="2" charset="0"/>
      <p:regular r:id="rId19"/>
      <p:bold r:id="rId20"/>
      <p:italic r:id="rId21"/>
      <p:boldItalic r:id="rId22"/>
    </p:embeddedFont>
    <p:embeddedFont>
      <p:font typeface="Montserrat Bold" panose="00000800000000000000" charset="0"/>
      <p:regular r:id="rId23"/>
    </p:embeddedFont>
    <p:embeddedFont>
      <p:font typeface="Open Sans Bold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8" d="100"/>
          <a:sy n="68" d="100"/>
        </p:scale>
        <p:origin x="608" y="1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32203" y="1721264"/>
            <a:ext cx="14555662" cy="22860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8072"/>
              </a:lnSpc>
            </a:pPr>
            <a:r>
              <a:rPr lang="en-US" sz="15060" dirty="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NETFLIX VS DISNEY+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31883" y="8988644"/>
            <a:ext cx="10893293" cy="469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7"/>
              </a:lnSpc>
            </a:pPr>
            <a:r>
              <a:rPr lang="en-US" sz="2797" b="1" spc="179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 Comprehensive Overview of Techniques and Tools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241813" y="8802151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6241813" y="8440825"/>
            <a:ext cx="1191540" cy="11915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28916" y="9058516"/>
            <a:ext cx="399568" cy="399568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6965203" y="664545"/>
            <a:ext cx="712885" cy="71288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336305" y="5600700"/>
            <a:ext cx="5988295" cy="30399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997"/>
              </a:lnSpc>
            </a:pPr>
            <a:r>
              <a:rPr lang="en-US" sz="285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DONE BY:</a:t>
            </a:r>
          </a:p>
          <a:p>
            <a:pPr algn="l">
              <a:lnSpc>
                <a:spcPts val="3997"/>
              </a:lnSpc>
            </a:pPr>
            <a:r>
              <a:rPr lang="en-US" sz="285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Ahmed Waleed</a:t>
            </a:r>
          </a:p>
          <a:p>
            <a:pPr algn="l">
              <a:lnSpc>
                <a:spcPts val="3997"/>
              </a:lnSpc>
            </a:pPr>
            <a:r>
              <a:rPr lang="en-US" sz="285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Kareem Moustafa</a:t>
            </a:r>
          </a:p>
          <a:p>
            <a:pPr>
              <a:lnSpc>
                <a:spcPts val="3997"/>
              </a:lnSpc>
            </a:pPr>
            <a:r>
              <a:rPr lang="en-US" sz="285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Mohammed Ashraf</a:t>
            </a:r>
          </a:p>
          <a:p>
            <a:pPr algn="l">
              <a:lnSpc>
                <a:spcPts val="3997"/>
              </a:lnSpc>
            </a:pPr>
            <a:r>
              <a:rPr lang="en-US" sz="285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Mostafa </a:t>
            </a:r>
            <a:r>
              <a:rPr lang="en-US" sz="2855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Rabeaa</a:t>
            </a:r>
            <a:endParaRPr lang="en-US" sz="2855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3997"/>
              </a:lnSpc>
              <a:spcBef>
                <a:spcPct val="0"/>
              </a:spcBef>
            </a:pPr>
            <a:r>
              <a:rPr lang="en-US" sz="2855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Nada Hatem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551030" y="4349936"/>
            <a:ext cx="11381566" cy="11381566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64467" y="2185400"/>
            <a:ext cx="7072900" cy="70729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837583" y="1599948"/>
            <a:ext cx="399568" cy="39956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123912" y="5143500"/>
            <a:ext cx="481690" cy="48169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725249" y="1989991"/>
            <a:ext cx="7038635" cy="143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INTRODUCTION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93420" y="4765489"/>
            <a:ext cx="7370756" cy="1237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6"/>
              </a:lnSpc>
            </a:pPr>
            <a:r>
              <a:rPr lang="en-US" sz="2333" b="1" spc="14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goal of this project is to compare the artistic production between Disney+ and Netflix content.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4CFCE-EDE4-90EE-2679-56F293C2A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B0D933C-7474-66A0-8971-76FADA6AC8B7}"/>
              </a:ext>
            </a:extLst>
          </p:cNvPr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96279490-90F5-DDA5-7BAA-AE8769DC21C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14073C2-E84D-6DA1-24EA-D0C2A48A731F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2F74041A-069E-707A-7B3C-D03F061F7EE0}"/>
              </a:ext>
            </a:extLst>
          </p:cNvPr>
          <p:cNvGrpSpPr/>
          <p:nvPr/>
        </p:nvGrpSpPr>
        <p:grpSpPr>
          <a:xfrm>
            <a:off x="8429116" y="2873416"/>
            <a:ext cx="389240" cy="389240"/>
            <a:chOff x="0" y="0"/>
            <a:chExt cx="812800" cy="812800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497ACD48-15C1-5D03-5E41-07EF79E6FB9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0298646-E6C7-9791-761D-155693A919BC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B3A03CE2-287B-E30F-84F0-74C8F1FFAA34}"/>
              </a:ext>
            </a:extLst>
          </p:cNvPr>
          <p:cNvSpPr txBox="1"/>
          <p:nvPr/>
        </p:nvSpPr>
        <p:spPr>
          <a:xfrm>
            <a:off x="2253952" y="1005311"/>
            <a:ext cx="12781988" cy="1469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4"/>
              </a:lnSpc>
            </a:pPr>
            <a:r>
              <a:rPr lang="en-US" sz="8000" dirty="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DASHBOARD Overview  </a:t>
            </a: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AB7D3B69-6BB3-0106-4267-29C4D7C773F3}"/>
              </a:ext>
            </a:extLst>
          </p:cNvPr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457C21DC-6070-97A2-8E47-92DDF0AB842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3E04EEC5-71A4-F814-E1C0-A6EE415A2D8E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FCC66633-CC8C-0EF2-EB74-C5C45509578B}"/>
              </a:ext>
            </a:extLst>
          </p:cNvPr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2E6516F-1B6F-2916-B6DD-20219B3A058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5D3341C-639F-0869-6652-5E248A3091BE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69AB42AA-459A-5940-235F-8BE32164FA6F}"/>
              </a:ext>
            </a:extLst>
          </p:cNvPr>
          <p:cNvGrpSpPr/>
          <p:nvPr/>
        </p:nvGrpSpPr>
        <p:grpSpPr>
          <a:xfrm>
            <a:off x="15724263" y="1135856"/>
            <a:ext cx="997371" cy="997371"/>
            <a:chOff x="0" y="0"/>
            <a:chExt cx="812800" cy="812800"/>
          </a:xfrm>
        </p:grpSpPr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6082FCA4-1616-94EF-5130-4B3831EA590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>
              <a:extLst>
                <a:ext uri="{FF2B5EF4-FFF2-40B4-BE49-F238E27FC236}">
                  <a16:creationId xmlns:a16="http://schemas.microsoft.com/office/drawing/2014/main" id="{8B859A84-55DB-B6C8-876C-81A492ABB87B}"/>
                </a:ext>
              </a:extLst>
            </p:cNvPr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1" name="TextBox 21">
            <a:extLst>
              <a:ext uri="{FF2B5EF4-FFF2-40B4-BE49-F238E27FC236}">
                <a16:creationId xmlns:a16="http://schemas.microsoft.com/office/drawing/2014/main" id="{A3AFC85B-4080-7ECF-3A47-F8853552BD00}"/>
              </a:ext>
            </a:extLst>
          </p:cNvPr>
          <p:cNvSpPr txBox="1"/>
          <p:nvPr/>
        </p:nvSpPr>
        <p:spPr>
          <a:xfrm>
            <a:off x="2230385" y="2705100"/>
            <a:ext cx="7241896" cy="4263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42"/>
              </a:lnSpc>
            </a:pPr>
            <a:endParaRPr lang="en-US" sz="3084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 marL="601087" lvl="1" indent="-300543" algn="l">
              <a:lnSpc>
                <a:spcPts val="4732"/>
              </a:lnSpc>
              <a:buFont typeface="Arial"/>
              <a:buChar char="•"/>
            </a:pPr>
            <a:r>
              <a:rPr lang="en-US" sz="2784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produced content </a:t>
            </a:r>
          </a:p>
          <a:p>
            <a:pPr marL="601087" lvl="1" indent="-300543" algn="l">
              <a:lnSpc>
                <a:spcPts val="4732"/>
              </a:lnSpc>
              <a:buFont typeface="Arial"/>
              <a:buChar char="•"/>
            </a:pPr>
            <a:r>
              <a:rPr lang="en-US" sz="2784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Movies vs TV Shows</a:t>
            </a:r>
          </a:p>
          <a:p>
            <a:pPr marL="601087" lvl="1" indent="-300543" algn="l">
              <a:lnSpc>
                <a:spcPts val="4732"/>
              </a:lnSpc>
              <a:buFont typeface="Arial"/>
              <a:buChar char="•"/>
            </a:pPr>
            <a:r>
              <a:rPr lang="en-US" sz="2784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Countries distribution</a:t>
            </a:r>
          </a:p>
          <a:p>
            <a:pPr marL="601087" lvl="1" indent="-300543" algn="l">
              <a:lnSpc>
                <a:spcPts val="4732"/>
              </a:lnSpc>
              <a:buFont typeface="Arial"/>
              <a:buChar char="•"/>
            </a:pPr>
            <a:r>
              <a:rPr lang="en-US" sz="2784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Ratings comparison</a:t>
            </a:r>
          </a:p>
          <a:p>
            <a:pPr marL="601087" lvl="1" indent="-300543" algn="l">
              <a:lnSpc>
                <a:spcPts val="4732"/>
              </a:lnSpc>
              <a:buFont typeface="Arial"/>
              <a:buChar char="•"/>
            </a:pPr>
            <a:r>
              <a:rPr lang="en-US" sz="2784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Media Release  through out a year </a:t>
            </a:r>
          </a:p>
          <a:p>
            <a:pPr marL="0" lvl="0" indent="0" algn="l">
              <a:lnSpc>
                <a:spcPts val="5072"/>
              </a:lnSpc>
              <a:spcBef>
                <a:spcPct val="0"/>
              </a:spcBef>
            </a:pPr>
            <a:endParaRPr lang="en-US" sz="2784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1237354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4159489"/>
            <a:ext cx="389240" cy="3892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019175"/>
            <a:ext cx="9791700" cy="14029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 dirty="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4470" y="4093855"/>
            <a:ext cx="16141529" cy="9592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26"/>
              </a:lnSpc>
            </a:pPr>
            <a:r>
              <a:rPr lang="en-US" sz="2733" b="1" spc="174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Streaming platforms compete heavily based on the type and volume of the produced content 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8401" y="5524500"/>
            <a:ext cx="11005118" cy="2247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6116" lvl="1" algn="l">
              <a:lnSpc>
                <a:spcPts val="4505"/>
              </a:lnSpc>
            </a:pPr>
            <a:r>
              <a:rPr lang="en-US" sz="2650" b="1" dirty="0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This Dashboard  shows insights to decide :</a:t>
            </a:r>
          </a:p>
          <a:p>
            <a:pPr marL="572233" lvl="1" indent="-286117" algn="l">
              <a:lnSpc>
                <a:spcPts val="4505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Which platform has more content?</a:t>
            </a:r>
          </a:p>
          <a:p>
            <a:pPr marL="572233" lvl="1" indent="-286117" algn="l">
              <a:lnSpc>
                <a:spcPts val="4505"/>
              </a:lnSpc>
              <a:buFont typeface="Arial"/>
              <a:buChar char="•"/>
            </a:pPr>
            <a:r>
              <a:rPr lang="en-US" sz="2000" b="1" dirty="0">
                <a:solidFill>
                  <a:srgbClr val="FFFFFF">
                    <a:alpha val="80000"/>
                  </a:srgbClr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Which countries produce the most titles?</a:t>
            </a:r>
          </a:p>
          <a:p>
            <a:pPr marL="0" lvl="0" indent="0" algn="l">
              <a:lnSpc>
                <a:spcPts val="4505"/>
              </a:lnSpc>
              <a:spcBef>
                <a:spcPct val="0"/>
              </a:spcBef>
            </a:pPr>
            <a:endParaRPr lang="en-US" sz="2650" b="1" dirty="0">
              <a:solidFill>
                <a:srgbClr val="FFFFFF">
                  <a:alpha val="80000"/>
                </a:srgbClr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56625" y="4611512"/>
            <a:ext cx="389240" cy="3892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25019" y="1872876"/>
            <a:ext cx="14237963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DATASET DESCRIPTION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752395" y="4586304"/>
            <a:ext cx="6280814" cy="84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includes titles from Netflix and Disney+.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51283" y="4611512"/>
            <a:ext cx="389240" cy="38924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447053" y="4586304"/>
            <a:ext cx="6812247" cy="170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Main columns used:</a:t>
            </a:r>
          </a:p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title, platform, duration,type (Movie/TV Show) country, release_year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2369106" y="7115766"/>
            <a:ext cx="389240" cy="3892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964876" y="7090558"/>
            <a:ext cx="4883724" cy="41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rows: [10245]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851283" y="7115766"/>
            <a:ext cx="389240" cy="389240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447053" y="7090558"/>
            <a:ext cx="5775896" cy="84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type: Mixed (categorical + numerical)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341251" y="2874433"/>
            <a:ext cx="389240" cy="3892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2341251" y="1019175"/>
            <a:ext cx="12472756" cy="1439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DATA CLEANING (PYTHON)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56795" y="2623704"/>
            <a:ext cx="11240205" cy="8430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 data cleaning and merging were performed in Python using Pandas: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856795" y="3774564"/>
            <a:ext cx="10000730" cy="3708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23365" lvl="1" indent="-311682" algn="l">
              <a:lnSpc>
                <a:spcPts val="4908"/>
              </a:lnSpc>
              <a:buFont typeface="Arial"/>
              <a:buChar char="•"/>
            </a:pPr>
            <a:r>
              <a:rPr lang="en-US" sz="2887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Removed duplicates</a:t>
            </a:r>
          </a:p>
          <a:p>
            <a:pPr marL="623365" lvl="1" indent="-311682" algn="l">
              <a:lnSpc>
                <a:spcPts val="4908"/>
              </a:lnSpc>
              <a:buFont typeface="Arial"/>
              <a:buChar char="•"/>
            </a:pPr>
            <a:r>
              <a:rPr lang="en-US" sz="2887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Handled missing values</a:t>
            </a:r>
          </a:p>
          <a:p>
            <a:pPr marL="623365" lvl="1" indent="-311682" algn="l">
              <a:lnSpc>
                <a:spcPts val="4908"/>
              </a:lnSpc>
              <a:buFont typeface="Arial"/>
              <a:buChar char="•"/>
            </a:pPr>
            <a:r>
              <a:rPr lang="en-US" sz="2887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Standardized column names</a:t>
            </a:r>
          </a:p>
          <a:p>
            <a:pPr marL="623365" lvl="1" indent="-311682" algn="l">
              <a:lnSpc>
                <a:spcPts val="4908"/>
              </a:lnSpc>
              <a:buFont typeface="Arial"/>
              <a:buChar char="•"/>
            </a:pPr>
            <a:r>
              <a:rPr lang="en-US" sz="2887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Cleaned duration format</a:t>
            </a:r>
          </a:p>
          <a:p>
            <a:pPr marL="623365" lvl="1" indent="-311682" algn="l">
              <a:lnSpc>
                <a:spcPts val="4908"/>
              </a:lnSpc>
              <a:buFont typeface="Arial"/>
              <a:buChar char="•"/>
            </a:pPr>
            <a:r>
              <a:rPr lang="en-US" sz="2887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Cleaned and split cast &amp; country fields</a:t>
            </a:r>
          </a:p>
          <a:p>
            <a:pPr marL="623365" lvl="1" indent="-311682" algn="l">
              <a:lnSpc>
                <a:spcPts val="4908"/>
              </a:lnSpc>
              <a:buFont typeface="Arial"/>
              <a:buChar char="•"/>
            </a:pPr>
            <a:r>
              <a:rPr lang="en-US" sz="2887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Merged multiple files into one final dataset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3515004" y="-2298581"/>
            <a:ext cx="5765358" cy="57653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t="-24906" b="-24906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429116" y="2873416"/>
            <a:ext cx="389240" cy="3892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32742" y="690861"/>
            <a:ext cx="12781988" cy="1552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44"/>
              </a:lnSpc>
            </a:pPr>
            <a:r>
              <a:rPr lang="en-US" sz="10204" dirty="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DASHBOARD visualizes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144000" y="2848208"/>
            <a:ext cx="5628447" cy="41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Dashboard contains: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636852" y="3674766"/>
            <a:ext cx="7622448" cy="5499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Platform filter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Movie / TV Show toggle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Year range slider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Country filter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Summary KPIs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Donut charts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Map visualization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Rating-based comparison</a:t>
            </a:r>
          </a:p>
          <a:p>
            <a:pPr marL="565332" lvl="1" indent="-282666" algn="l">
              <a:lnSpc>
                <a:spcPts val="4451"/>
              </a:lnSpc>
              <a:buFont typeface="Arial"/>
              <a:buChar char="•"/>
            </a:pPr>
            <a:r>
              <a:rPr lang="en-US" sz="2618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Release year trend</a:t>
            </a:r>
          </a:p>
          <a:p>
            <a:pPr marL="0" lvl="0" indent="0" algn="l">
              <a:lnSpc>
                <a:spcPts val="3709"/>
              </a:lnSpc>
              <a:spcBef>
                <a:spcPct val="0"/>
              </a:spcBef>
            </a:pPr>
            <a:endParaRPr lang="en-US" sz="2618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45" y="3170297"/>
            <a:ext cx="6592440" cy="6641458"/>
          </a:xfrm>
          <a:prstGeom prst="rect">
            <a:avLst/>
          </a:prstGeom>
        </p:spPr>
      </p:pic>
      <p:grpSp>
        <p:nvGrpSpPr>
          <p:cNvPr id="18" name="Group 18"/>
          <p:cNvGrpSpPr/>
          <p:nvPr/>
        </p:nvGrpSpPr>
        <p:grpSpPr>
          <a:xfrm>
            <a:off x="15724263" y="1135856"/>
            <a:ext cx="997371" cy="997371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837583" y="1599948"/>
            <a:ext cx="399568" cy="39956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4593775" y="-294271"/>
            <a:ext cx="5765358" cy="576535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4906" r="-24906"/>
              </a:stretch>
            </a:blipFill>
            <a:ln w="17145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16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156839"/>
              </p:ext>
            </p:extLst>
          </p:nvPr>
        </p:nvGraphicFramePr>
        <p:xfrm>
          <a:off x="3421984" y="2588408"/>
          <a:ext cx="9478297" cy="6153150"/>
        </p:xfrm>
        <a:graphic>
          <a:graphicData uri="http://schemas.openxmlformats.org/drawingml/2006/table">
            <a:tbl>
              <a:tblPr/>
              <a:tblGrid>
                <a:gridCol w="48916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866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Metric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 b="1" dirty="0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Value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Titles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10,000+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Movies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7,178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Total TV Shows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3,061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Countries (Netflix)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749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Countries (Disney+)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 dirty="0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90</a:t>
                      </a: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TextBox 17"/>
          <p:cNvSpPr txBox="1"/>
          <p:nvPr/>
        </p:nvSpPr>
        <p:spPr>
          <a:xfrm>
            <a:off x="3282358" y="915574"/>
            <a:ext cx="10015027" cy="1438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75"/>
              </a:lnSpc>
            </a:pPr>
            <a:r>
              <a:rPr lang="en-US" sz="9396" dirty="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SUMMARY KPIS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728489" y="9210675"/>
            <a:ext cx="13607099" cy="404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3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Netflix has a significantly wider global reach and more titles overall.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9249" y="8311026"/>
            <a:ext cx="389240" cy="3892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7578403" y="3023871"/>
            <a:ext cx="9680897" cy="3278335"/>
          </a:xfrm>
          <a:custGeom>
            <a:avLst/>
            <a:gdLst/>
            <a:ahLst/>
            <a:cxnLst/>
            <a:rect l="l" t="t" r="r" b="b"/>
            <a:pathLst>
              <a:path w="9680897" h="3278335">
                <a:moveTo>
                  <a:pt x="0" y="0"/>
                </a:moveTo>
                <a:lnTo>
                  <a:pt x="9680897" y="0"/>
                </a:lnTo>
                <a:lnTo>
                  <a:pt x="9680897" y="3278336"/>
                </a:lnTo>
                <a:lnTo>
                  <a:pt x="0" y="32783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2324259" y="1019175"/>
            <a:ext cx="15820686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5"/>
              </a:lnSpc>
            </a:pPr>
            <a:r>
              <a:rPr lang="en-US" sz="78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MOVIES VS TV SHOWS (DONUT CHARTS)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935019" y="8263401"/>
            <a:ext cx="16435477" cy="84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Both platforms focus more on movies than TV shows, with Disney+ having an even stronger movie concentration.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85439" y="3155366"/>
            <a:ext cx="6826553" cy="32057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DAX used : </a:t>
            </a: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Netflix_Movies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= 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CALCULATE(COUNTROWS(</a:t>
            </a: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cleaned_streaming_data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),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cleaned_streaming_data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[platform] = "Netflix",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cleaned_streaming_data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[type] = "Movie"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  <a:p>
            <a:pPr algn="l">
              <a:lnSpc>
                <a:spcPts val="2822"/>
              </a:lnSpc>
            </a:pPr>
            <a:endParaRPr lang="en-US" sz="2016" b="1" spc="129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822"/>
              </a:lnSpc>
            </a:pPr>
            <a:endParaRPr lang="en-US" sz="2016" b="1" spc="129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85439" y="5709912"/>
            <a:ext cx="9568340" cy="27957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2"/>
              </a:lnSpc>
            </a:pPr>
            <a:endParaRPr dirty="0"/>
          </a:p>
          <a:p>
            <a:pPr algn="l">
              <a:lnSpc>
                <a:spcPts val="2822"/>
              </a:lnSpc>
            </a:pP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Netflix_TVShows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= 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CALCULATE( COUNTROWS(</a:t>
            </a: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cleaned_streaming_data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),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cleaned_streaming_data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[platform] = "Netflix",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 </a:t>
            </a:r>
            <a:r>
              <a:rPr lang="en-US" sz="2016" b="1" spc="129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cleaned_streaming_data</a:t>
            </a: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[type] = "TV Show"</a:t>
            </a:r>
          </a:p>
          <a:p>
            <a:pPr algn="l">
              <a:lnSpc>
                <a:spcPts val="2822"/>
              </a:lnSpc>
            </a:pPr>
            <a:r>
              <a:rPr lang="en-US" sz="2016" b="1" spc="129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</a:t>
            </a:r>
          </a:p>
          <a:p>
            <a:pPr algn="l">
              <a:lnSpc>
                <a:spcPts val="2822"/>
              </a:lnSpc>
            </a:pPr>
            <a:endParaRPr lang="en-US" sz="2016" b="1" spc="129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algn="l">
              <a:lnSpc>
                <a:spcPts val="2822"/>
              </a:lnSpc>
            </a:pPr>
            <a:endParaRPr lang="en-US" sz="2016" b="1" spc="129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3479" y="5143500"/>
            <a:ext cx="389240" cy="3892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8589530" y="2440435"/>
            <a:ext cx="8669770" cy="6817865"/>
          </a:xfrm>
          <a:custGeom>
            <a:avLst/>
            <a:gdLst/>
            <a:ahLst/>
            <a:cxnLst/>
            <a:rect l="l" t="t" r="r" b="b"/>
            <a:pathLst>
              <a:path w="8669770" h="6817865">
                <a:moveTo>
                  <a:pt x="0" y="0"/>
                </a:moveTo>
                <a:lnTo>
                  <a:pt x="8669770" y="0"/>
                </a:lnTo>
                <a:lnTo>
                  <a:pt x="8669770" y="6817865"/>
                </a:lnTo>
                <a:lnTo>
                  <a:pt x="0" y="68178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3" r="-850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324259" y="1019175"/>
            <a:ext cx="4740476" cy="3609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5"/>
              </a:lnSpc>
            </a:pPr>
            <a:r>
              <a:rPr lang="en-US" sz="78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TOTAL TITLES BY RATING &amp; PLATFORM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28489" y="5095875"/>
            <a:ext cx="6654511" cy="298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insights:</a:t>
            </a:r>
          </a:p>
          <a:p>
            <a:pPr marL="525315" lvl="1" indent="-262658" algn="l">
              <a:lnSpc>
                <a:spcPts val="3406"/>
              </a:lnSpc>
              <a:buFont typeface="Arial"/>
              <a:buChar char="•"/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dominates TV-MA and TV-14, meaning more mature/adult content.</a:t>
            </a:r>
          </a:p>
          <a:p>
            <a:pPr marL="525315" lvl="1" indent="-262658" algn="l">
              <a:lnSpc>
                <a:spcPts val="3406"/>
              </a:lnSpc>
              <a:buFont typeface="Arial"/>
              <a:buChar char="•"/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Disney+ has more family-friendly ratings like TV-PG.</a:t>
            </a:r>
          </a:p>
          <a:p>
            <a:pPr algn="l">
              <a:lnSpc>
                <a:spcPts val="3406"/>
              </a:lnSpc>
            </a:pPr>
            <a:endParaRPr lang="en-US" sz="2433" b="1" spc="155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331419" y="8266140"/>
            <a:ext cx="7258111" cy="1700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DAX USED:</a:t>
            </a:r>
          </a:p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Total titles = COUNT(cleaned_streaming_data[title])</a:t>
            </a:r>
          </a:p>
          <a:p>
            <a:pPr algn="l">
              <a:lnSpc>
                <a:spcPts val="3406"/>
              </a:lnSpc>
            </a:pPr>
            <a:endParaRPr lang="en-US" sz="2433" b="1" spc="155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39249" y="8311026"/>
            <a:ext cx="389240" cy="3892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3059367" y="3232773"/>
            <a:ext cx="12169267" cy="3821453"/>
          </a:xfrm>
          <a:custGeom>
            <a:avLst/>
            <a:gdLst/>
            <a:ahLst/>
            <a:cxnLst/>
            <a:rect l="l" t="t" r="r" b="b"/>
            <a:pathLst>
              <a:path w="12169267" h="3821453">
                <a:moveTo>
                  <a:pt x="0" y="0"/>
                </a:moveTo>
                <a:lnTo>
                  <a:pt x="12169266" y="0"/>
                </a:lnTo>
                <a:lnTo>
                  <a:pt x="12169266" y="3821454"/>
                </a:lnTo>
                <a:lnTo>
                  <a:pt x="0" y="38214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09" r="-372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TextBox 15"/>
          <p:cNvSpPr txBox="1"/>
          <p:nvPr/>
        </p:nvSpPr>
        <p:spPr>
          <a:xfrm>
            <a:off x="4931866" y="1019175"/>
            <a:ext cx="8424269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5"/>
              </a:lnSpc>
            </a:pPr>
            <a:r>
              <a:rPr lang="en-US" sz="7896" dirty="0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RELEASE YEAR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852523" y="8254917"/>
            <a:ext cx="16435477" cy="84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Netflix expanded its content aggressively after 2010, while Disney+ scaled gradually after launch.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2731293" y="2512472"/>
            <a:ext cx="13491655" cy="6745828"/>
          </a:xfrm>
          <a:custGeom>
            <a:avLst/>
            <a:gdLst/>
            <a:ahLst/>
            <a:cxnLst/>
            <a:rect l="l" t="t" r="r" b="b"/>
            <a:pathLst>
              <a:path w="13491655" h="6745828">
                <a:moveTo>
                  <a:pt x="0" y="0"/>
                </a:moveTo>
                <a:lnTo>
                  <a:pt x="13491656" y="0"/>
                </a:lnTo>
                <a:lnTo>
                  <a:pt x="13491656" y="6745828"/>
                </a:lnTo>
                <a:lnTo>
                  <a:pt x="0" y="67458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3059367" y="1019175"/>
            <a:ext cx="14199933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5"/>
              </a:lnSpc>
            </a:pPr>
            <a:r>
              <a:rPr lang="en-US" sz="78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HEATMAP OF POPULAR GENRES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3059367" y="1019175"/>
            <a:ext cx="14199933" cy="1209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75"/>
              </a:lnSpc>
            </a:pPr>
            <a:r>
              <a:rPr lang="en-US" sz="78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HEATMAP OF POPULAR GENRES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35019" y="3117266"/>
            <a:ext cx="14287930" cy="5675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2"/>
              </a:lnSpc>
            </a:pPr>
            <a:r>
              <a:rPr lang="en-US" sz="2694" b="1" spc="1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insights:</a:t>
            </a:r>
          </a:p>
          <a:p>
            <a:pPr marL="581778" lvl="1" indent="-290889" algn="l">
              <a:lnSpc>
                <a:spcPts val="3772"/>
              </a:lnSpc>
              <a:buFont typeface="Arial"/>
              <a:buChar char="•"/>
            </a:pPr>
            <a:r>
              <a:rPr lang="en-US" sz="2694" b="1" spc="1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International Movies and Dramas had the highest overall growth, especially from 2015–2019.</a:t>
            </a:r>
          </a:p>
          <a:p>
            <a:pPr marL="581778" lvl="1" indent="-290889" algn="l">
              <a:lnSpc>
                <a:spcPts val="3772"/>
              </a:lnSpc>
              <a:buFont typeface="Arial"/>
              <a:buChar char="•"/>
            </a:pPr>
            <a:r>
              <a:rPr lang="en-US" sz="2694" b="1" spc="1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There is a visible spike in Dramas and International Movies around 2016–2018, indicating increased production and demand.</a:t>
            </a:r>
          </a:p>
          <a:p>
            <a:pPr marL="581778" lvl="1" indent="-290889" algn="l">
              <a:lnSpc>
                <a:spcPts val="3772"/>
              </a:lnSpc>
              <a:buFont typeface="Arial"/>
              <a:buChar char="•"/>
            </a:pPr>
            <a:r>
              <a:rPr lang="en-US" sz="2694" b="1" spc="1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Documentaries, Comedies, and International TV Shows also show a rising trend after 2015.</a:t>
            </a:r>
          </a:p>
          <a:p>
            <a:pPr marL="581778" lvl="1" indent="-290889" algn="l">
              <a:lnSpc>
                <a:spcPts val="3772"/>
              </a:lnSpc>
              <a:buFont typeface="Arial"/>
              <a:buChar char="•"/>
            </a:pPr>
            <a:r>
              <a:rPr lang="en-US" sz="2694" b="1" spc="1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Animation, Family, and Romantic Movies remained relatively stable with low-to-moderate production.</a:t>
            </a:r>
          </a:p>
          <a:p>
            <a:pPr marL="581778" lvl="1" indent="-290889" algn="l">
              <a:lnSpc>
                <a:spcPts val="3772"/>
              </a:lnSpc>
              <a:buFont typeface="Arial"/>
              <a:buChar char="•"/>
            </a:pPr>
            <a:r>
              <a:rPr lang="en-US" sz="2694" b="1" spc="172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The year 2020 shows drops for most genres, likely due to global production slowdowns.</a:t>
            </a:r>
          </a:p>
          <a:p>
            <a:pPr algn="l">
              <a:lnSpc>
                <a:spcPts val="3772"/>
              </a:lnSpc>
            </a:pPr>
            <a:endParaRPr lang="en-US" sz="2694" b="1" spc="172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6222949" y="8925787"/>
            <a:ext cx="3086100" cy="308610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724263" y="1135856"/>
            <a:ext cx="997371" cy="99737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430694" y="3624848"/>
            <a:ext cx="389240" cy="38924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2430694" y="1408837"/>
            <a:ext cx="6111618" cy="14392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75"/>
              </a:lnSpc>
            </a:pPr>
            <a:r>
              <a:rPr lang="en-US" sz="9396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CONCLUSION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393920" y="3599639"/>
            <a:ext cx="5515848" cy="41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Netflix leads in: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393920" y="4459288"/>
            <a:ext cx="6986401" cy="23265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Total artistic production 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TV shows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Mature ratings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Country coverage</a:t>
            </a:r>
          </a:p>
          <a:p>
            <a:pPr marL="0" lvl="0" indent="0" algn="l">
              <a:lnSpc>
                <a:spcPts val="3739"/>
              </a:lnSpc>
              <a:spcBef>
                <a:spcPct val="0"/>
              </a:spcBef>
            </a:pPr>
            <a:endParaRPr lang="en-US" sz="2199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711074" y="4482072"/>
            <a:ext cx="6986401" cy="1365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Family-friendly content</a:t>
            </a:r>
          </a:p>
          <a:p>
            <a:pPr marL="474979" lvl="1" indent="-237490" algn="l">
              <a:lnSpc>
                <a:spcPts val="3739"/>
              </a:lnSpc>
              <a:buFont typeface="Arial"/>
              <a:buChar char="•"/>
            </a:pPr>
            <a:r>
              <a:rPr lang="en-US" sz="2199" b="1" dirty="0">
                <a:solidFill>
                  <a:srgbClr val="FFFFFF">
                    <a:alpha val="80000"/>
                  </a:srgbClr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High-quality, movie-heavy catalog</a:t>
            </a:r>
          </a:p>
          <a:p>
            <a:pPr marL="0" lvl="0" indent="0" algn="l">
              <a:lnSpc>
                <a:spcPts val="3739"/>
              </a:lnSpc>
              <a:spcBef>
                <a:spcPct val="0"/>
              </a:spcBef>
            </a:pPr>
            <a:endParaRPr lang="en-US" sz="2199" b="1" dirty="0">
              <a:solidFill>
                <a:srgbClr val="FFFFFF">
                  <a:alpha val="80000"/>
                </a:srgbClr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10380321" y="3624848"/>
            <a:ext cx="389240" cy="389240"/>
            <a:chOff x="0" y="0"/>
            <a:chExt cx="812800" cy="8128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1341061" y="3568738"/>
            <a:ext cx="5515848" cy="8430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r>
              <a:rPr lang="en-US" sz="2433" b="1" spc="155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Disney+ focuses more on:</a:t>
            </a:r>
          </a:p>
          <a:p>
            <a:pPr algn="l">
              <a:lnSpc>
                <a:spcPts val="3406"/>
              </a:lnSpc>
            </a:pPr>
            <a:endParaRPr lang="en-US" sz="2433" b="1" spc="155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33" b="-9333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-1357611" y="-1286368"/>
            <a:ext cx="3086100" cy="30861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85863" y="3538238"/>
            <a:ext cx="14516274" cy="3912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866"/>
              </a:lnSpc>
            </a:pPr>
            <a:r>
              <a:rPr lang="en-US" sz="25721">
                <a:solidFill>
                  <a:srgbClr val="FF4454"/>
                </a:solidFill>
                <a:latin typeface="Anton"/>
                <a:ea typeface="Anton"/>
                <a:cs typeface="Anton"/>
                <a:sym typeface="Anton"/>
              </a:rPr>
              <a:t>THANK YOU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743479" y="690861"/>
            <a:ext cx="1191540" cy="1191540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241813" y="8802151"/>
            <a:ext cx="3086100" cy="308610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6241813" y="8440825"/>
            <a:ext cx="1191540" cy="119154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28916" y="9058516"/>
            <a:ext cx="399568" cy="39956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6402137" y="1525959"/>
            <a:ext cx="712885" cy="712885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DC0E20">
                    <a:alpha val="100000"/>
                  </a:srgbClr>
                </a:gs>
                <a:gs pos="100000">
                  <a:srgbClr val="FF4454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99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551</Words>
  <Application>Microsoft Office PowerPoint</Application>
  <PresentationFormat>Custom</PresentationFormat>
  <Paragraphs>100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Calibri</vt:lpstr>
      <vt:lpstr>Arial</vt:lpstr>
      <vt:lpstr>Anton</vt:lpstr>
      <vt:lpstr>Montserrat</vt:lpstr>
      <vt:lpstr>Open Sans Bold</vt:lpstr>
      <vt:lpstr>Montserrat Bold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Red Modern Bold Data Analysis Presentation</dc:title>
  <dc:creator>Kareem Moustafa  Mahmoud</dc:creator>
  <cp:lastModifiedBy>Kareem Moustafa  Mahmoud</cp:lastModifiedBy>
  <cp:revision>2</cp:revision>
  <dcterms:created xsi:type="dcterms:W3CDTF">2006-08-16T00:00:00Z</dcterms:created>
  <dcterms:modified xsi:type="dcterms:W3CDTF">2025-12-07T17:42:25Z</dcterms:modified>
  <dc:identifier>DAG61ISk5kw</dc:identifier>
</cp:coreProperties>
</file>